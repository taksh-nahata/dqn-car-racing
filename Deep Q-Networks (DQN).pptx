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nton" charset="1" panose="00000500000000000000"/>
      <p:regular r:id="rId16"/>
    </p:embeddedFont>
    <p:embeddedFont>
      <p:font typeface="Canva Sans" charset="1" panose="020B0503030501040103"/>
      <p:regular r:id="rId17"/>
    </p:embeddedFont>
    <p:embeddedFont>
      <p:font typeface="Canva Sans Italics" charset="1" panose="020B0503030501040103"/>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BEE"/>
        </a:solidFill>
      </p:bgPr>
    </p:bg>
    <p:spTree>
      <p:nvGrpSpPr>
        <p:cNvPr id="1" name=""/>
        <p:cNvGrpSpPr/>
        <p:nvPr/>
      </p:nvGrpSpPr>
      <p:grpSpPr>
        <a:xfrm>
          <a:off x="0" y="0"/>
          <a:ext cx="0" cy="0"/>
          <a:chOff x="0" y="0"/>
          <a:chExt cx="0" cy="0"/>
        </a:xfrm>
      </p:grpSpPr>
      <p:sp>
        <p:nvSpPr>
          <p:cNvPr name="TextBox 2" id="2"/>
          <p:cNvSpPr txBox="true"/>
          <p:nvPr/>
        </p:nvSpPr>
        <p:spPr>
          <a:xfrm rot="0">
            <a:off x="5066688" y="2073016"/>
            <a:ext cx="11809397" cy="4076700"/>
          </a:xfrm>
          <a:prstGeom prst="rect">
            <a:avLst/>
          </a:prstGeom>
        </p:spPr>
        <p:txBody>
          <a:bodyPr anchor="t" rtlCol="false" tIns="0" lIns="0" bIns="0" rIns="0">
            <a:spAutoFit/>
          </a:bodyPr>
          <a:lstStyle/>
          <a:p>
            <a:pPr algn="l">
              <a:lnSpc>
                <a:spcPts val="15750"/>
              </a:lnSpc>
            </a:pPr>
            <a:r>
              <a:rPr lang="en-US" sz="15000">
                <a:solidFill>
                  <a:srgbClr val="6784C8"/>
                </a:solidFill>
                <a:latin typeface="Anton"/>
                <a:ea typeface="Anton"/>
                <a:cs typeface="Anton"/>
                <a:sym typeface="Anton"/>
              </a:rPr>
              <a:t>Deep </a:t>
            </a:r>
          </a:p>
          <a:p>
            <a:pPr algn="l">
              <a:lnSpc>
                <a:spcPts val="15750"/>
              </a:lnSpc>
            </a:pPr>
            <a:r>
              <a:rPr lang="en-US" sz="15000">
                <a:solidFill>
                  <a:srgbClr val="6784C8"/>
                </a:solidFill>
                <a:latin typeface="Anton"/>
                <a:ea typeface="Anton"/>
                <a:cs typeface="Anton"/>
                <a:sym typeface="Anton"/>
              </a:rPr>
              <a:t>Q-Networks</a:t>
            </a:r>
          </a:p>
        </p:txBody>
      </p:sp>
      <p:sp>
        <p:nvSpPr>
          <p:cNvPr name="Freeform 3" id="3"/>
          <p:cNvSpPr/>
          <p:nvPr/>
        </p:nvSpPr>
        <p:spPr>
          <a:xfrm flipH="false" flipV="false" rot="0">
            <a:off x="-2735904" y="0"/>
            <a:ext cx="5471809" cy="5143500"/>
          </a:xfrm>
          <a:custGeom>
            <a:avLst/>
            <a:gdLst/>
            <a:ahLst/>
            <a:cxnLst/>
            <a:rect r="r" b="b" t="t" l="l"/>
            <a:pathLst>
              <a:path h="5143500" w="5471809">
                <a:moveTo>
                  <a:pt x="0" y="0"/>
                </a:moveTo>
                <a:lnTo>
                  <a:pt x="5471808" y="0"/>
                </a:lnTo>
                <a:lnTo>
                  <a:pt x="5471808" y="5143500"/>
                </a:lnTo>
                <a:lnTo>
                  <a:pt x="0" y="51435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735904" y="5143500"/>
            <a:ext cx="5471809" cy="5143500"/>
          </a:xfrm>
          <a:custGeom>
            <a:avLst/>
            <a:gdLst/>
            <a:ahLst/>
            <a:cxnLst/>
            <a:rect r="r" b="b" t="t" l="l"/>
            <a:pathLst>
              <a:path h="5143500" w="5471809">
                <a:moveTo>
                  <a:pt x="0" y="0"/>
                </a:moveTo>
                <a:lnTo>
                  <a:pt x="5471808" y="0"/>
                </a:lnTo>
                <a:lnTo>
                  <a:pt x="5471808" y="5143500"/>
                </a:lnTo>
                <a:lnTo>
                  <a:pt x="0" y="51435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5066688" y="7511792"/>
            <a:ext cx="11809397" cy="596900"/>
          </a:xfrm>
          <a:prstGeom prst="rect">
            <a:avLst/>
          </a:prstGeom>
        </p:spPr>
        <p:txBody>
          <a:bodyPr anchor="t" rtlCol="false" tIns="0" lIns="0" bIns="0" rIns="0">
            <a:spAutoFit/>
          </a:bodyPr>
          <a:lstStyle/>
          <a:p>
            <a:pPr algn="l">
              <a:lnSpc>
                <a:spcPts val="4900"/>
              </a:lnSpc>
              <a:spcBef>
                <a:spcPct val="0"/>
              </a:spcBef>
            </a:pPr>
            <a:r>
              <a:rPr lang="en-US" sz="3500">
                <a:solidFill>
                  <a:srgbClr val="7886A6"/>
                </a:solidFill>
                <a:latin typeface="Canva Sans"/>
                <a:ea typeface="Canva Sans"/>
                <a:cs typeface="Canva Sans"/>
                <a:sym typeface="Canva Sans"/>
              </a:rPr>
              <a:t>Presented by Taksh Nahata</a:t>
            </a:r>
          </a:p>
        </p:txBody>
      </p:sp>
      <p:sp>
        <p:nvSpPr>
          <p:cNvPr name="TextBox 6" id="6"/>
          <p:cNvSpPr txBox="true"/>
          <p:nvPr/>
        </p:nvSpPr>
        <p:spPr>
          <a:xfrm rot="0">
            <a:off x="10971386" y="8936038"/>
            <a:ext cx="6287914" cy="514350"/>
          </a:xfrm>
          <a:prstGeom prst="rect">
            <a:avLst/>
          </a:prstGeom>
        </p:spPr>
        <p:txBody>
          <a:bodyPr anchor="t" rtlCol="false" tIns="0" lIns="0" bIns="0" rIns="0">
            <a:spAutoFit/>
          </a:bodyPr>
          <a:lstStyle/>
          <a:p>
            <a:pPr algn="r" marL="0" indent="0" lvl="0">
              <a:lnSpc>
                <a:spcPts val="4200"/>
              </a:lnSpc>
              <a:spcBef>
                <a:spcPct val="0"/>
              </a:spcBef>
            </a:pPr>
            <a:r>
              <a:rPr lang="en-US" sz="3000" i="true">
                <a:solidFill>
                  <a:srgbClr val="7886A6"/>
                </a:solidFill>
                <a:latin typeface="Canva Sans Italics"/>
                <a:ea typeface="Canva Sans Italics"/>
                <a:cs typeface="Canva Sans Italics"/>
                <a:sym typeface="Canva Sans Italics"/>
              </a:rPr>
              <a:t> Antonoglou et al.</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BEE"/>
        </a:solidFill>
      </p:bgPr>
    </p:bg>
    <p:spTree>
      <p:nvGrpSpPr>
        <p:cNvPr id="1" name=""/>
        <p:cNvGrpSpPr/>
        <p:nvPr/>
      </p:nvGrpSpPr>
      <p:grpSpPr>
        <a:xfrm>
          <a:off x="0" y="0"/>
          <a:ext cx="0" cy="0"/>
          <a:chOff x="0" y="0"/>
          <a:chExt cx="0" cy="0"/>
        </a:xfrm>
      </p:grpSpPr>
      <p:sp>
        <p:nvSpPr>
          <p:cNvPr name="Freeform 2" id="2"/>
          <p:cNvSpPr/>
          <p:nvPr/>
        </p:nvSpPr>
        <p:spPr>
          <a:xfrm flipH="false" flipV="false" rot="0">
            <a:off x="15751199" y="6686550"/>
            <a:ext cx="5014445" cy="7200900"/>
          </a:xfrm>
          <a:custGeom>
            <a:avLst/>
            <a:gdLst/>
            <a:ahLst/>
            <a:cxnLst/>
            <a:rect r="r" b="b" t="t" l="l"/>
            <a:pathLst>
              <a:path h="7200900" w="5014445">
                <a:moveTo>
                  <a:pt x="0" y="0"/>
                </a:moveTo>
                <a:lnTo>
                  <a:pt x="5014445" y="0"/>
                </a:lnTo>
                <a:lnTo>
                  <a:pt x="5014445"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722443" y="-4224344"/>
            <a:ext cx="5014445" cy="7200900"/>
          </a:xfrm>
          <a:custGeom>
            <a:avLst/>
            <a:gdLst/>
            <a:ahLst/>
            <a:cxnLst/>
            <a:rect r="r" b="b" t="t" l="l"/>
            <a:pathLst>
              <a:path h="7200900" w="5014445">
                <a:moveTo>
                  <a:pt x="0" y="0"/>
                </a:moveTo>
                <a:lnTo>
                  <a:pt x="5014445" y="0"/>
                </a:lnTo>
                <a:lnTo>
                  <a:pt x="5014445"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0" y="1598048"/>
            <a:ext cx="18288000" cy="952500"/>
          </a:xfrm>
          <a:prstGeom prst="rect">
            <a:avLst/>
          </a:prstGeom>
        </p:spPr>
        <p:txBody>
          <a:bodyPr anchor="t" rtlCol="false" tIns="0" lIns="0" bIns="0" rIns="0">
            <a:spAutoFit/>
          </a:bodyPr>
          <a:lstStyle/>
          <a:p>
            <a:pPr algn="ctr">
              <a:lnSpc>
                <a:spcPts val="7349"/>
              </a:lnSpc>
            </a:pPr>
            <a:r>
              <a:rPr lang="en-US" sz="6999">
                <a:solidFill>
                  <a:srgbClr val="6784C8"/>
                </a:solidFill>
                <a:latin typeface="Anton"/>
                <a:ea typeface="Anton"/>
                <a:cs typeface="Anton"/>
                <a:sym typeface="Anton"/>
              </a:rPr>
              <a:t>The Core Problem: Discrete Choices</a:t>
            </a:r>
          </a:p>
        </p:txBody>
      </p:sp>
      <p:sp>
        <p:nvSpPr>
          <p:cNvPr name="TextBox 5" id="5"/>
          <p:cNvSpPr txBox="true"/>
          <p:nvPr/>
        </p:nvSpPr>
        <p:spPr>
          <a:xfrm rot="0">
            <a:off x="1512750" y="4122173"/>
            <a:ext cx="1992873" cy="1038242"/>
          </a:xfrm>
          <a:prstGeom prst="rect">
            <a:avLst/>
          </a:prstGeom>
        </p:spPr>
        <p:txBody>
          <a:bodyPr anchor="t" rtlCol="false" tIns="0" lIns="0" bIns="0" rIns="0">
            <a:spAutoFit/>
          </a:bodyPr>
          <a:lstStyle/>
          <a:p>
            <a:pPr algn="l">
              <a:lnSpc>
                <a:spcPts val="7875"/>
              </a:lnSpc>
            </a:pPr>
            <a:r>
              <a:rPr lang="en-US" sz="7500">
                <a:solidFill>
                  <a:srgbClr val="6784C8"/>
                </a:solidFill>
                <a:latin typeface="Anton"/>
                <a:ea typeface="Anton"/>
                <a:cs typeface="Anton"/>
                <a:sym typeface="Anton"/>
              </a:rPr>
              <a:t>01.</a:t>
            </a:r>
          </a:p>
        </p:txBody>
      </p:sp>
      <p:sp>
        <p:nvSpPr>
          <p:cNvPr name="TextBox 6" id="6"/>
          <p:cNvSpPr txBox="true"/>
          <p:nvPr/>
        </p:nvSpPr>
        <p:spPr>
          <a:xfrm rot="0">
            <a:off x="1512750" y="5731105"/>
            <a:ext cx="1992873" cy="1038242"/>
          </a:xfrm>
          <a:prstGeom prst="rect">
            <a:avLst/>
          </a:prstGeom>
        </p:spPr>
        <p:txBody>
          <a:bodyPr anchor="t" rtlCol="false" tIns="0" lIns="0" bIns="0" rIns="0">
            <a:spAutoFit/>
          </a:bodyPr>
          <a:lstStyle/>
          <a:p>
            <a:pPr algn="l">
              <a:lnSpc>
                <a:spcPts val="7875"/>
              </a:lnSpc>
            </a:pPr>
            <a:r>
              <a:rPr lang="en-US" sz="7500">
                <a:solidFill>
                  <a:srgbClr val="6784C8"/>
                </a:solidFill>
                <a:latin typeface="Anton"/>
                <a:ea typeface="Anton"/>
                <a:cs typeface="Anton"/>
                <a:sym typeface="Anton"/>
              </a:rPr>
              <a:t>02.</a:t>
            </a:r>
          </a:p>
        </p:txBody>
      </p:sp>
      <p:sp>
        <p:nvSpPr>
          <p:cNvPr name="TextBox 7" id="7"/>
          <p:cNvSpPr txBox="true"/>
          <p:nvPr/>
        </p:nvSpPr>
        <p:spPr>
          <a:xfrm rot="0">
            <a:off x="3505622" y="4036448"/>
            <a:ext cx="12681757" cy="1471930"/>
          </a:xfrm>
          <a:prstGeom prst="rect">
            <a:avLst/>
          </a:prstGeom>
        </p:spPr>
        <p:txBody>
          <a:bodyPr anchor="t" rtlCol="false" tIns="0" lIns="0" bIns="0" rIns="0">
            <a:spAutoFit/>
          </a:bodyPr>
          <a:lstStyle/>
          <a:p>
            <a:pPr algn="l">
              <a:lnSpc>
                <a:spcPts val="3920"/>
              </a:lnSpc>
              <a:spcBef>
                <a:spcPct val="0"/>
              </a:spcBef>
            </a:pPr>
            <a:r>
              <a:rPr lang="en-US" sz="2800">
                <a:solidFill>
                  <a:srgbClr val="7886A6"/>
                </a:solidFill>
                <a:latin typeface="Canva Sans"/>
                <a:ea typeface="Canva Sans"/>
                <a:cs typeface="Canva Sans"/>
                <a:sym typeface="Canva Sans"/>
              </a:rPr>
              <a:t>The Mapping Challenge: Unlike steering wheels where you can turn "slightly left" by any floating-point degree, many environments require hard, discrete choices (like pressing Left, Right, Jump, or Fire).</a:t>
            </a:r>
          </a:p>
        </p:txBody>
      </p:sp>
      <p:sp>
        <p:nvSpPr>
          <p:cNvPr name="TextBox 8" id="8"/>
          <p:cNvSpPr txBox="true"/>
          <p:nvPr/>
        </p:nvSpPr>
        <p:spPr>
          <a:xfrm rot="0">
            <a:off x="3505622" y="5680948"/>
            <a:ext cx="12681757" cy="1471930"/>
          </a:xfrm>
          <a:prstGeom prst="rect">
            <a:avLst/>
          </a:prstGeom>
        </p:spPr>
        <p:txBody>
          <a:bodyPr anchor="t" rtlCol="false" tIns="0" lIns="0" bIns="0" rIns="0">
            <a:spAutoFit/>
          </a:bodyPr>
          <a:lstStyle/>
          <a:p>
            <a:pPr algn="l">
              <a:lnSpc>
                <a:spcPts val="3920"/>
              </a:lnSpc>
              <a:spcBef>
                <a:spcPct val="0"/>
              </a:spcBef>
            </a:pPr>
            <a:r>
              <a:rPr lang="en-US" sz="2800">
                <a:solidFill>
                  <a:srgbClr val="7886A6"/>
                </a:solidFill>
                <a:latin typeface="Canva Sans"/>
                <a:ea typeface="Canva Sans"/>
                <a:cs typeface="Canva Sans"/>
                <a:sym typeface="Canva Sans"/>
              </a:rPr>
              <a:t>Predicting the Future: If you are in a specific state, how do you mathematically calculate the "future value" of pressing a specific button right now?</a:t>
            </a:r>
          </a:p>
        </p:txBody>
      </p:sp>
      <p:sp>
        <p:nvSpPr>
          <p:cNvPr name="TextBox 9" id="9"/>
          <p:cNvSpPr txBox="true"/>
          <p:nvPr/>
        </p:nvSpPr>
        <p:spPr>
          <a:xfrm rot="0">
            <a:off x="1889452" y="8172053"/>
            <a:ext cx="12681757" cy="1471930"/>
          </a:xfrm>
          <a:prstGeom prst="rect">
            <a:avLst/>
          </a:prstGeom>
        </p:spPr>
        <p:txBody>
          <a:bodyPr anchor="t" rtlCol="false" tIns="0" lIns="0" bIns="0" rIns="0">
            <a:spAutoFit/>
          </a:bodyPr>
          <a:lstStyle/>
          <a:p>
            <a:pPr algn="l">
              <a:lnSpc>
                <a:spcPts val="3920"/>
              </a:lnSpc>
              <a:spcBef>
                <a:spcPct val="0"/>
              </a:spcBef>
            </a:pPr>
            <a:r>
              <a:rPr lang="en-US" sz="2800">
                <a:solidFill>
                  <a:srgbClr val="7886A6"/>
                </a:solidFill>
                <a:latin typeface="Canva Sans"/>
                <a:ea typeface="Canva Sans"/>
                <a:cs typeface="Canva Sans"/>
                <a:sym typeface="Canva Sans"/>
              </a:rPr>
              <a:t>The Goal: We need a neural network that looks at a screen and outputs a score for every possible button press, so we can always pick the absolute best one.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BEE"/>
        </a:solidFill>
      </p:bgPr>
    </p:bg>
    <p:spTree>
      <p:nvGrpSpPr>
        <p:cNvPr id="1" name=""/>
        <p:cNvGrpSpPr/>
        <p:nvPr/>
      </p:nvGrpSpPr>
      <p:grpSpPr>
        <a:xfrm>
          <a:off x="0" y="0"/>
          <a:ext cx="0" cy="0"/>
          <a:chOff x="0" y="0"/>
          <a:chExt cx="0" cy="0"/>
        </a:xfrm>
      </p:grpSpPr>
      <p:sp>
        <p:nvSpPr>
          <p:cNvPr name="Freeform 2" id="2"/>
          <p:cNvSpPr/>
          <p:nvPr/>
        </p:nvSpPr>
        <p:spPr>
          <a:xfrm flipH="false" flipV="false" rot="0">
            <a:off x="-3916905" y="4358609"/>
            <a:ext cx="5928391" cy="5928391"/>
          </a:xfrm>
          <a:custGeom>
            <a:avLst/>
            <a:gdLst/>
            <a:ahLst/>
            <a:cxnLst/>
            <a:rect r="r" b="b" t="t" l="l"/>
            <a:pathLst>
              <a:path h="5928391" w="5928391">
                <a:moveTo>
                  <a:pt x="0" y="0"/>
                </a:moveTo>
                <a:lnTo>
                  <a:pt x="5928391" y="0"/>
                </a:lnTo>
                <a:lnTo>
                  <a:pt x="5928391" y="5928391"/>
                </a:lnTo>
                <a:lnTo>
                  <a:pt x="0" y="59283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751199" y="-3799554"/>
            <a:ext cx="5928391" cy="5928391"/>
          </a:xfrm>
          <a:custGeom>
            <a:avLst/>
            <a:gdLst/>
            <a:ahLst/>
            <a:cxnLst/>
            <a:rect r="r" b="b" t="t" l="l"/>
            <a:pathLst>
              <a:path h="5928391" w="5928391">
                <a:moveTo>
                  <a:pt x="0" y="0"/>
                </a:moveTo>
                <a:lnTo>
                  <a:pt x="5928391" y="0"/>
                </a:lnTo>
                <a:lnTo>
                  <a:pt x="5928391" y="5928391"/>
                </a:lnTo>
                <a:lnTo>
                  <a:pt x="0" y="59283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0" y="2149401"/>
            <a:ext cx="18288000" cy="1581150"/>
          </a:xfrm>
          <a:prstGeom prst="rect">
            <a:avLst/>
          </a:prstGeom>
        </p:spPr>
        <p:txBody>
          <a:bodyPr anchor="t" rtlCol="false" tIns="0" lIns="0" bIns="0" rIns="0">
            <a:spAutoFit/>
          </a:bodyPr>
          <a:lstStyle/>
          <a:p>
            <a:pPr algn="ctr">
              <a:lnSpc>
                <a:spcPts val="12074"/>
              </a:lnSpc>
            </a:pPr>
            <a:r>
              <a:rPr lang="en-US" sz="11499">
                <a:solidFill>
                  <a:srgbClr val="6784C8"/>
                </a:solidFill>
                <a:latin typeface="Anton"/>
                <a:ea typeface="Anton"/>
                <a:cs typeface="Anton"/>
                <a:sym typeface="Anton"/>
              </a:rPr>
              <a:t>The Big Idea: Q-Learning</a:t>
            </a:r>
          </a:p>
        </p:txBody>
      </p:sp>
      <p:sp>
        <p:nvSpPr>
          <p:cNvPr name="TextBox 5" id="5"/>
          <p:cNvSpPr txBox="true"/>
          <p:nvPr/>
        </p:nvSpPr>
        <p:spPr>
          <a:xfrm rot="0">
            <a:off x="3069442" y="4641701"/>
            <a:ext cx="12681757" cy="5434330"/>
          </a:xfrm>
          <a:prstGeom prst="rect">
            <a:avLst/>
          </a:prstGeom>
        </p:spPr>
        <p:txBody>
          <a:bodyPr anchor="t" rtlCol="false" tIns="0" lIns="0" bIns="0" rIns="0">
            <a:spAutoFit/>
          </a:bodyPr>
          <a:lstStyle/>
          <a:p>
            <a:pPr algn="l" marL="604521" indent="-302261" lvl="1">
              <a:lnSpc>
                <a:spcPts val="3920"/>
              </a:lnSpc>
              <a:spcBef>
                <a:spcPct val="0"/>
              </a:spcBef>
              <a:buFont typeface="Arial"/>
              <a:buChar char="•"/>
            </a:pPr>
            <a:r>
              <a:rPr lang="en-US" sz="2800">
                <a:solidFill>
                  <a:srgbClr val="7886A6"/>
                </a:solidFill>
                <a:latin typeface="Canva Sans"/>
                <a:ea typeface="Canva Sans"/>
                <a:cs typeface="Canva Sans"/>
                <a:sym typeface="Canva Sans"/>
              </a:rPr>
              <a:t>The</a:t>
            </a:r>
            <a:r>
              <a:rPr lang="en-US" sz="2800">
                <a:solidFill>
                  <a:srgbClr val="7886A6"/>
                </a:solidFill>
                <a:latin typeface="Canva Sans"/>
                <a:ea typeface="Canva Sans"/>
                <a:cs typeface="Canva Sans"/>
                <a:sym typeface="Canva Sans"/>
              </a:rPr>
              <a:t> Q-Value: "Q" stands for quality. A Q-va</a:t>
            </a:r>
            <a:r>
              <a:rPr lang="en-US" sz="2800">
                <a:solidFill>
                  <a:srgbClr val="7886A6"/>
                </a:solidFill>
                <a:latin typeface="Canva Sans"/>
                <a:ea typeface="Canva Sans"/>
                <a:cs typeface="Canva Sans"/>
                <a:sym typeface="Canva Sans"/>
              </a:rPr>
              <a:t>l</a:t>
            </a:r>
            <a:r>
              <a:rPr lang="en-US" sz="2800">
                <a:solidFill>
                  <a:srgbClr val="7886A6"/>
                </a:solidFill>
                <a:latin typeface="Canva Sans"/>
                <a:ea typeface="Canva Sans"/>
                <a:cs typeface="Canva Sans"/>
                <a:sym typeface="Canva Sans"/>
              </a:rPr>
              <a:t>ue </a:t>
            </a:r>
            <a:r>
              <a:rPr lang="en-US" sz="2800">
                <a:solidFill>
                  <a:srgbClr val="7886A6"/>
                </a:solidFill>
                <a:latin typeface="Canva Sans"/>
                <a:ea typeface="Canva Sans"/>
                <a:cs typeface="Canva Sans"/>
                <a:sym typeface="Canva Sans"/>
              </a:rPr>
              <a:t>i</a:t>
            </a:r>
            <a:r>
              <a:rPr lang="en-US" sz="2800">
                <a:solidFill>
                  <a:srgbClr val="7886A6"/>
                </a:solidFill>
                <a:latin typeface="Canva Sans"/>
                <a:ea typeface="Canva Sans"/>
                <a:cs typeface="Canva Sans"/>
                <a:sym typeface="Canva Sans"/>
              </a:rPr>
              <a:t>s sim</a:t>
            </a:r>
            <a:r>
              <a:rPr lang="en-US" sz="2800">
                <a:solidFill>
                  <a:srgbClr val="7886A6"/>
                </a:solidFill>
                <a:latin typeface="Canva Sans"/>
                <a:ea typeface="Canva Sans"/>
                <a:cs typeface="Canva Sans"/>
                <a:sym typeface="Canva Sans"/>
              </a:rPr>
              <a:t>p</a:t>
            </a:r>
            <a:r>
              <a:rPr lang="en-US" sz="2800">
                <a:solidFill>
                  <a:srgbClr val="7886A6"/>
                </a:solidFill>
                <a:latin typeface="Canva Sans"/>
                <a:ea typeface="Canva Sans"/>
                <a:cs typeface="Canva Sans"/>
                <a:sym typeface="Canva Sans"/>
              </a:rPr>
              <a:t>ly a </a:t>
            </a:r>
            <a:r>
              <a:rPr lang="en-US" sz="2800">
                <a:solidFill>
                  <a:srgbClr val="7886A6"/>
                </a:solidFill>
                <a:latin typeface="Canva Sans"/>
                <a:ea typeface="Canva Sans"/>
                <a:cs typeface="Canva Sans"/>
                <a:sym typeface="Canva Sans"/>
              </a:rPr>
              <a:t>p</a:t>
            </a:r>
            <a:r>
              <a:rPr lang="en-US" sz="2800">
                <a:solidFill>
                  <a:srgbClr val="7886A6"/>
                </a:solidFill>
                <a:latin typeface="Canva Sans"/>
                <a:ea typeface="Canva Sans"/>
                <a:cs typeface="Canva Sans"/>
                <a:sym typeface="Canva Sans"/>
              </a:rPr>
              <a:t>r</a:t>
            </a:r>
            <a:r>
              <a:rPr lang="en-US" sz="2800">
                <a:solidFill>
                  <a:srgbClr val="7886A6"/>
                </a:solidFill>
                <a:latin typeface="Canva Sans"/>
                <a:ea typeface="Canva Sans"/>
                <a:cs typeface="Canva Sans"/>
                <a:sym typeface="Canva Sans"/>
              </a:rPr>
              <a:t>ed</a:t>
            </a:r>
            <a:r>
              <a:rPr lang="en-US" sz="2800">
                <a:solidFill>
                  <a:srgbClr val="7886A6"/>
                </a:solidFill>
                <a:latin typeface="Canva Sans"/>
                <a:ea typeface="Canva Sans"/>
                <a:cs typeface="Canva Sans"/>
                <a:sym typeface="Canva Sans"/>
              </a:rPr>
              <a:t>iction</a:t>
            </a:r>
            <a:r>
              <a:rPr lang="en-US" sz="2800">
                <a:solidFill>
                  <a:srgbClr val="7886A6"/>
                </a:solidFill>
                <a:latin typeface="Canva Sans"/>
                <a:ea typeface="Canva Sans"/>
                <a:cs typeface="Canva Sans"/>
                <a:sym typeface="Canva Sans"/>
              </a:rPr>
              <a:t> o</a:t>
            </a:r>
            <a:r>
              <a:rPr lang="en-US" sz="2800">
                <a:solidFill>
                  <a:srgbClr val="7886A6"/>
                </a:solidFill>
                <a:latin typeface="Canva Sans"/>
                <a:ea typeface="Canva Sans"/>
                <a:cs typeface="Canva Sans"/>
                <a:sym typeface="Canva Sans"/>
              </a:rPr>
              <a:t>f </a:t>
            </a:r>
            <a:r>
              <a:rPr lang="en-US" sz="2800">
                <a:solidFill>
                  <a:srgbClr val="7886A6"/>
                </a:solidFill>
                <a:latin typeface="Canva Sans"/>
                <a:ea typeface="Canva Sans"/>
                <a:cs typeface="Canva Sans"/>
                <a:sym typeface="Canva Sans"/>
              </a:rPr>
              <a:t>t</a:t>
            </a:r>
            <a:r>
              <a:rPr lang="en-US" sz="2800">
                <a:solidFill>
                  <a:srgbClr val="7886A6"/>
                </a:solidFill>
                <a:latin typeface="Canva Sans"/>
                <a:ea typeface="Canva Sans"/>
                <a:cs typeface="Canva Sans"/>
                <a:sym typeface="Canva Sans"/>
              </a:rPr>
              <a:t>h</a:t>
            </a:r>
            <a:r>
              <a:rPr lang="en-US" sz="2800">
                <a:solidFill>
                  <a:srgbClr val="7886A6"/>
                </a:solidFill>
                <a:latin typeface="Canva Sans"/>
                <a:ea typeface="Canva Sans"/>
                <a:cs typeface="Canva Sans"/>
                <a:sym typeface="Canva Sans"/>
              </a:rPr>
              <a:t>e </a:t>
            </a:r>
            <a:r>
              <a:rPr lang="en-US" sz="2800">
                <a:solidFill>
                  <a:srgbClr val="7886A6"/>
                </a:solidFill>
                <a:latin typeface="Canva Sans"/>
                <a:ea typeface="Canva Sans"/>
                <a:cs typeface="Canva Sans"/>
                <a:sym typeface="Canva Sans"/>
              </a:rPr>
              <a:t>to</a:t>
            </a:r>
            <a:r>
              <a:rPr lang="en-US" sz="2800">
                <a:solidFill>
                  <a:srgbClr val="7886A6"/>
                </a:solidFill>
                <a:latin typeface="Canva Sans"/>
                <a:ea typeface="Canva Sans"/>
                <a:cs typeface="Canva Sans"/>
                <a:sym typeface="Canva Sans"/>
              </a:rPr>
              <a:t>t</a:t>
            </a:r>
            <a:r>
              <a:rPr lang="en-US" sz="2800">
                <a:solidFill>
                  <a:srgbClr val="7886A6"/>
                </a:solidFill>
                <a:latin typeface="Canva Sans"/>
                <a:ea typeface="Canva Sans"/>
                <a:cs typeface="Canva Sans"/>
                <a:sym typeface="Canva Sans"/>
              </a:rPr>
              <a:t>al score we w</a:t>
            </a:r>
            <a:r>
              <a:rPr lang="en-US" sz="2800">
                <a:solidFill>
                  <a:srgbClr val="7886A6"/>
                </a:solidFill>
                <a:latin typeface="Canva Sans"/>
                <a:ea typeface="Canva Sans"/>
                <a:cs typeface="Canva Sans"/>
                <a:sym typeface="Canva Sans"/>
              </a:rPr>
              <a:t>i</a:t>
            </a:r>
            <a:r>
              <a:rPr lang="en-US" sz="2800">
                <a:solidFill>
                  <a:srgbClr val="7886A6"/>
                </a:solidFill>
                <a:latin typeface="Canva Sans"/>
                <a:ea typeface="Canva Sans"/>
                <a:cs typeface="Canva Sans"/>
                <a:sym typeface="Canva Sans"/>
              </a:rPr>
              <a:t>ll g</a:t>
            </a:r>
            <a:r>
              <a:rPr lang="en-US" sz="2800">
                <a:solidFill>
                  <a:srgbClr val="7886A6"/>
                </a:solidFill>
                <a:latin typeface="Canva Sans"/>
                <a:ea typeface="Canva Sans"/>
                <a:cs typeface="Canva Sans"/>
                <a:sym typeface="Canva Sans"/>
              </a:rPr>
              <a:t>e</a:t>
            </a:r>
            <a:r>
              <a:rPr lang="en-US" sz="2800">
                <a:solidFill>
                  <a:srgbClr val="7886A6"/>
                </a:solidFill>
                <a:latin typeface="Canva Sans"/>
                <a:ea typeface="Canva Sans"/>
                <a:cs typeface="Canva Sans"/>
                <a:sym typeface="Canva Sans"/>
              </a:rPr>
              <a:t>t</a:t>
            </a:r>
            <a:r>
              <a:rPr lang="en-US" sz="2800">
                <a:solidFill>
                  <a:srgbClr val="7886A6"/>
                </a:solidFill>
                <a:latin typeface="Canva Sans"/>
                <a:ea typeface="Canva Sans"/>
                <a:cs typeface="Canva Sans"/>
                <a:sym typeface="Canva Sans"/>
              </a:rPr>
              <a:t> </a:t>
            </a:r>
            <a:r>
              <a:rPr lang="en-US" sz="2800">
                <a:solidFill>
                  <a:srgbClr val="7886A6"/>
                </a:solidFill>
                <a:latin typeface="Canva Sans"/>
                <a:ea typeface="Canva Sans"/>
                <a:cs typeface="Canva Sans"/>
                <a:sym typeface="Canva Sans"/>
              </a:rPr>
              <a:t>from now </a:t>
            </a:r>
            <a:r>
              <a:rPr lang="en-US" sz="2800">
                <a:solidFill>
                  <a:srgbClr val="7886A6"/>
                </a:solidFill>
                <a:latin typeface="Canva Sans"/>
                <a:ea typeface="Canva Sans"/>
                <a:cs typeface="Canva Sans"/>
                <a:sym typeface="Canva Sans"/>
              </a:rPr>
              <a:t>unti</a:t>
            </a:r>
            <a:r>
              <a:rPr lang="en-US" sz="2800">
                <a:solidFill>
                  <a:srgbClr val="7886A6"/>
                </a:solidFill>
                <a:latin typeface="Canva Sans"/>
                <a:ea typeface="Canva Sans"/>
                <a:cs typeface="Canva Sans"/>
                <a:sym typeface="Canva Sans"/>
              </a:rPr>
              <a:t>l the e</a:t>
            </a:r>
            <a:r>
              <a:rPr lang="en-US" sz="2800">
                <a:solidFill>
                  <a:srgbClr val="7886A6"/>
                </a:solidFill>
                <a:latin typeface="Canva Sans"/>
                <a:ea typeface="Canva Sans"/>
                <a:cs typeface="Canva Sans"/>
                <a:sym typeface="Canva Sans"/>
              </a:rPr>
              <a:t>n</a:t>
            </a:r>
            <a:r>
              <a:rPr lang="en-US" sz="2800">
                <a:solidFill>
                  <a:srgbClr val="7886A6"/>
                </a:solidFill>
                <a:latin typeface="Canva Sans"/>
                <a:ea typeface="Canva Sans"/>
                <a:cs typeface="Canva Sans"/>
                <a:sym typeface="Canva Sans"/>
              </a:rPr>
              <a:t>d of the game if we take a specific action right now.</a:t>
            </a:r>
          </a:p>
          <a:p>
            <a:pPr algn="l" marL="604521" indent="-302261" lvl="1">
              <a:lnSpc>
                <a:spcPts val="3920"/>
              </a:lnSpc>
              <a:spcBef>
                <a:spcPct val="0"/>
              </a:spcBef>
              <a:buFont typeface="Arial"/>
              <a:buChar char="•"/>
            </a:pPr>
            <a:r>
              <a:rPr lang="en-US" sz="2800">
                <a:solidFill>
                  <a:srgbClr val="7886A6"/>
                </a:solidFill>
                <a:latin typeface="Canva Sans"/>
                <a:ea typeface="Canva Sans"/>
                <a:cs typeface="Canva Sans"/>
                <a:sym typeface="Canva Sans"/>
              </a:rPr>
              <a:t>The Bellman Equation: DQN uses a classic math rule to constantly update its guesses. It says: "The value of my choice right now is the reward I get immediately, plus the maximum value I can get in the next step."</a:t>
            </a:r>
          </a:p>
          <a:p>
            <a:pPr algn="l" marL="604521" indent="-302261" lvl="1">
              <a:lnSpc>
                <a:spcPts val="3920"/>
              </a:lnSpc>
              <a:spcBef>
                <a:spcPct val="0"/>
              </a:spcBef>
              <a:buFont typeface="Arial"/>
              <a:buChar char="•"/>
            </a:pPr>
            <a:r>
              <a:rPr lang="en-US" sz="2800">
                <a:solidFill>
                  <a:srgbClr val="7886A6"/>
                </a:solidFill>
                <a:latin typeface="Canva Sans"/>
                <a:ea typeface="Canva Sans"/>
                <a:cs typeface="Canva Sans"/>
                <a:sym typeface="Canva Sans"/>
              </a:rPr>
              <a:t>Constant Adjustments: The AI constantly plays the game, compares its predicted Q-value to the actual reward it got, and nudges its neural network to make better guesses next time.</a:t>
            </a:r>
          </a:p>
          <a:p>
            <a:pPr algn="l">
              <a:lnSpc>
                <a:spcPts val="3920"/>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BEE"/>
        </a:solidFill>
      </p:bgPr>
    </p:bg>
    <p:spTree>
      <p:nvGrpSpPr>
        <p:cNvPr id="1" name=""/>
        <p:cNvGrpSpPr/>
        <p:nvPr/>
      </p:nvGrpSpPr>
      <p:grpSpPr>
        <a:xfrm>
          <a:off x="0" y="0"/>
          <a:ext cx="0" cy="0"/>
          <a:chOff x="0" y="0"/>
          <a:chExt cx="0" cy="0"/>
        </a:xfrm>
      </p:grpSpPr>
      <p:sp>
        <p:nvSpPr>
          <p:cNvPr name="Freeform 2" id="2"/>
          <p:cNvSpPr/>
          <p:nvPr/>
        </p:nvSpPr>
        <p:spPr>
          <a:xfrm flipH="false" flipV="false" rot="0">
            <a:off x="-3916905" y="4358609"/>
            <a:ext cx="5928391" cy="5928391"/>
          </a:xfrm>
          <a:custGeom>
            <a:avLst/>
            <a:gdLst/>
            <a:ahLst/>
            <a:cxnLst/>
            <a:rect r="r" b="b" t="t" l="l"/>
            <a:pathLst>
              <a:path h="5928391" w="5928391">
                <a:moveTo>
                  <a:pt x="0" y="0"/>
                </a:moveTo>
                <a:lnTo>
                  <a:pt x="5928391" y="0"/>
                </a:lnTo>
                <a:lnTo>
                  <a:pt x="5928391" y="5928391"/>
                </a:lnTo>
                <a:lnTo>
                  <a:pt x="0" y="59283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751199" y="-3799554"/>
            <a:ext cx="5928391" cy="5928391"/>
          </a:xfrm>
          <a:custGeom>
            <a:avLst/>
            <a:gdLst/>
            <a:ahLst/>
            <a:cxnLst/>
            <a:rect r="r" b="b" t="t" l="l"/>
            <a:pathLst>
              <a:path h="5928391" w="5928391">
                <a:moveTo>
                  <a:pt x="0" y="0"/>
                </a:moveTo>
                <a:lnTo>
                  <a:pt x="5928391" y="0"/>
                </a:lnTo>
                <a:lnTo>
                  <a:pt x="5928391" y="5928391"/>
                </a:lnTo>
                <a:lnTo>
                  <a:pt x="0" y="59283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0" y="1837324"/>
            <a:ext cx="18288000" cy="1371600"/>
          </a:xfrm>
          <a:prstGeom prst="rect">
            <a:avLst/>
          </a:prstGeom>
        </p:spPr>
        <p:txBody>
          <a:bodyPr anchor="t" rtlCol="false" tIns="0" lIns="0" bIns="0" rIns="0">
            <a:spAutoFit/>
          </a:bodyPr>
          <a:lstStyle/>
          <a:p>
            <a:pPr algn="ctr">
              <a:lnSpc>
                <a:spcPts val="10499"/>
              </a:lnSpc>
            </a:pPr>
            <a:r>
              <a:rPr lang="en-US" sz="9999">
                <a:solidFill>
                  <a:srgbClr val="6784C8"/>
                </a:solidFill>
                <a:latin typeface="Anton"/>
                <a:ea typeface="Anton"/>
                <a:cs typeface="Anton"/>
                <a:sym typeface="Anton"/>
              </a:rPr>
              <a:t>The Secret Weapon: Replay Buffer</a:t>
            </a:r>
          </a:p>
        </p:txBody>
      </p:sp>
      <p:sp>
        <p:nvSpPr>
          <p:cNvPr name="TextBox 5" id="5"/>
          <p:cNvSpPr txBox="true"/>
          <p:nvPr/>
        </p:nvSpPr>
        <p:spPr>
          <a:xfrm rot="0">
            <a:off x="2803121" y="3823970"/>
            <a:ext cx="12681757" cy="5434330"/>
          </a:xfrm>
          <a:prstGeom prst="rect">
            <a:avLst/>
          </a:prstGeom>
        </p:spPr>
        <p:txBody>
          <a:bodyPr anchor="t" rtlCol="false" tIns="0" lIns="0" bIns="0" rIns="0">
            <a:spAutoFit/>
          </a:bodyPr>
          <a:lstStyle/>
          <a:p>
            <a:pPr algn="l" marL="604521" indent="-302261" lvl="1">
              <a:lnSpc>
                <a:spcPts val="3920"/>
              </a:lnSpc>
              <a:buFont typeface="Arial"/>
              <a:buChar char="•"/>
            </a:pPr>
            <a:r>
              <a:rPr lang="en-US" sz="2800">
                <a:solidFill>
                  <a:srgbClr val="7886A6"/>
                </a:solidFill>
                <a:latin typeface="Canva Sans"/>
                <a:ea typeface="Canva Sans"/>
                <a:cs typeface="Canva Sans"/>
                <a:sym typeface="Canva Sans"/>
              </a:rPr>
              <a:t>The Amnesia Problem: Usually, an AI sees a frame, learns from it once, </a:t>
            </a:r>
            <a:r>
              <a:rPr lang="en-US" sz="2800">
                <a:solidFill>
                  <a:srgbClr val="7886A6"/>
                </a:solidFill>
                <a:latin typeface="Canva Sans"/>
                <a:ea typeface="Canva Sans"/>
                <a:cs typeface="Canva Sans"/>
                <a:sym typeface="Canva Sans"/>
              </a:rPr>
              <a:t>and immediately throws it away. This makes learning highly unstable because sequential frames are too similar.</a:t>
            </a:r>
          </a:p>
          <a:p>
            <a:pPr algn="l" marL="604521" indent="-302261" lvl="1">
              <a:lnSpc>
                <a:spcPts val="3920"/>
              </a:lnSpc>
              <a:buFont typeface="Arial"/>
              <a:buChar char="•"/>
            </a:pPr>
            <a:r>
              <a:rPr lang="en-US" sz="2800">
                <a:solidFill>
                  <a:srgbClr val="7886A6"/>
                </a:solidFill>
                <a:latin typeface="Canva Sans"/>
                <a:ea typeface="Canva Sans"/>
                <a:cs typeface="Canva Sans"/>
                <a:sym typeface="Canva Sans"/>
              </a:rPr>
              <a:t>The Solution (Experience Replay): We create a giant database (the Replay Buffer) that saves everything: [State, Action, Reward, Next State].</a:t>
            </a:r>
          </a:p>
          <a:p>
            <a:pPr algn="l" marL="604521" indent="-302261" lvl="1">
              <a:lnSpc>
                <a:spcPts val="3920"/>
              </a:lnSpc>
              <a:buFont typeface="Arial"/>
              <a:buChar char="•"/>
            </a:pPr>
            <a:r>
              <a:rPr lang="en-US" sz="2800">
                <a:solidFill>
                  <a:srgbClr val="7886A6"/>
                </a:solidFill>
                <a:latin typeface="Canva Sans"/>
                <a:ea typeface="Canva Sans"/>
                <a:cs typeface="Canva Sans"/>
                <a:sym typeface="Canva Sans"/>
              </a:rPr>
              <a:t>Random Sampling:</a:t>
            </a:r>
            <a:r>
              <a:rPr lang="en-US" sz="2800">
                <a:solidFill>
                  <a:srgbClr val="7886A6"/>
                </a:solidFill>
                <a:latin typeface="Canva Sans"/>
                <a:ea typeface="Canva Sans"/>
                <a:cs typeface="Canva Sans"/>
                <a:sym typeface="Canva Sans"/>
              </a:rPr>
              <a:t> During training, instead of learning only from the last second of driving, the AI randomly grabs a random batch of memories from the database. This stops the AI from getting hyper-focused on only its recent mistakes.</a:t>
            </a:r>
          </a:p>
          <a:p>
            <a:pPr algn="l">
              <a:lnSpc>
                <a:spcPts val="3920"/>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BEE"/>
        </a:solidFill>
      </p:bgPr>
    </p:bg>
    <p:spTree>
      <p:nvGrpSpPr>
        <p:cNvPr id="1" name=""/>
        <p:cNvGrpSpPr/>
        <p:nvPr/>
      </p:nvGrpSpPr>
      <p:grpSpPr>
        <a:xfrm>
          <a:off x="0" y="0"/>
          <a:ext cx="0" cy="0"/>
          <a:chOff x="0" y="0"/>
          <a:chExt cx="0" cy="0"/>
        </a:xfrm>
      </p:grpSpPr>
      <p:sp>
        <p:nvSpPr>
          <p:cNvPr name="Freeform 2" id="2"/>
          <p:cNvSpPr/>
          <p:nvPr/>
        </p:nvSpPr>
        <p:spPr>
          <a:xfrm flipH="false" flipV="false" rot="0">
            <a:off x="-3916905" y="4358609"/>
            <a:ext cx="5928391" cy="5928391"/>
          </a:xfrm>
          <a:custGeom>
            <a:avLst/>
            <a:gdLst/>
            <a:ahLst/>
            <a:cxnLst/>
            <a:rect r="r" b="b" t="t" l="l"/>
            <a:pathLst>
              <a:path h="5928391" w="5928391">
                <a:moveTo>
                  <a:pt x="0" y="0"/>
                </a:moveTo>
                <a:lnTo>
                  <a:pt x="5928391" y="0"/>
                </a:lnTo>
                <a:lnTo>
                  <a:pt x="5928391" y="5928391"/>
                </a:lnTo>
                <a:lnTo>
                  <a:pt x="0" y="59283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751199" y="-3799554"/>
            <a:ext cx="5928391" cy="5928391"/>
          </a:xfrm>
          <a:custGeom>
            <a:avLst/>
            <a:gdLst/>
            <a:ahLst/>
            <a:cxnLst/>
            <a:rect r="r" b="b" t="t" l="l"/>
            <a:pathLst>
              <a:path h="5928391" w="5928391">
                <a:moveTo>
                  <a:pt x="0" y="0"/>
                </a:moveTo>
                <a:lnTo>
                  <a:pt x="5928391" y="0"/>
                </a:lnTo>
                <a:lnTo>
                  <a:pt x="5928391" y="5928391"/>
                </a:lnTo>
                <a:lnTo>
                  <a:pt x="0" y="59283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0" y="1837324"/>
            <a:ext cx="18288000" cy="1327786"/>
          </a:xfrm>
          <a:prstGeom prst="rect">
            <a:avLst/>
          </a:prstGeom>
        </p:spPr>
        <p:txBody>
          <a:bodyPr anchor="t" rtlCol="false" tIns="0" lIns="0" bIns="0" rIns="0">
            <a:spAutoFit/>
          </a:bodyPr>
          <a:lstStyle/>
          <a:p>
            <a:pPr algn="ctr">
              <a:lnSpc>
                <a:spcPts val="10185"/>
              </a:lnSpc>
            </a:pPr>
            <a:r>
              <a:rPr lang="en-US" sz="9700">
                <a:solidFill>
                  <a:srgbClr val="6784C8"/>
                </a:solidFill>
                <a:latin typeface="Anton"/>
                <a:ea typeface="Anton"/>
                <a:cs typeface="Anton"/>
                <a:sym typeface="Anton"/>
              </a:rPr>
              <a:t>The Stabilizer: Target Network</a:t>
            </a:r>
          </a:p>
        </p:txBody>
      </p:sp>
      <p:sp>
        <p:nvSpPr>
          <p:cNvPr name="TextBox 5" id="5"/>
          <p:cNvSpPr txBox="true"/>
          <p:nvPr/>
        </p:nvSpPr>
        <p:spPr>
          <a:xfrm rot="0">
            <a:off x="3069442" y="4330315"/>
            <a:ext cx="12681757" cy="5434330"/>
          </a:xfrm>
          <a:prstGeom prst="rect">
            <a:avLst/>
          </a:prstGeom>
        </p:spPr>
        <p:txBody>
          <a:bodyPr anchor="t" rtlCol="false" tIns="0" lIns="0" bIns="0" rIns="0">
            <a:spAutoFit/>
          </a:bodyPr>
          <a:lstStyle/>
          <a:p>
            <a:pPr algn="l" marL="604521" indent="-302261" lvl="1">
              <a:lnSpc>
                <a:spcPts val="3920"/>
              </a:lnSpc>
              <a:buFont typeface="Arial"/>
              <a:buChar char="•"/>
            </a:pPr>
            <a:r>
              <a:rPr lang="en-US" sz="2800">
                <a:solidFill>
                  <a:srgbClr val="7886A6"/>
                </a:solidFill>
                <a:latin typeface="Canva Sans"/>
                <a:ea typeface="Canva Sans"/>
                <a:cs typeface="Canva Sans"/>
                <a:sym typeface="Canva Sans"/>
              </a:rPr>
              <a:t>The Shaky Ground Problem: When updating predictions, if you use the exact same neu</a:t>
            </a:r>
            <a:r>
              <a:rPr lang="en-US" sz="2800">
                <a:solidFill>
                  <a:srgbClr val="7886A6"/>
                </a:solidFill>
                <a:latin typeface="Canva Sans"/>
                <a:ea typeface="Canva Sans"/>
                <a:cs typeface="Canva Sans"/>
                <a:sym typeface="Canva Sans"/>
              </a:rPr>
              <a:t>ral network to calculate both your current guess and your future goal, the network changes so fast that the goal keeps moving. It's like trying to shoot a moving target on a rollercoaster.</a:t>
            </a:r>
          </a:p>
          <a:p>
            <a:pPr algn="l" marL="604521" indent="-302261" lvl="1">
              <a:lnSpc>
                <a:spcPts val="3920"/>
              </a:lnSpc>
              <a:buFont typeface="Arial"/>
              <a:buChar char="•"/>
            </a:pPr>
            <a:r>
              <a:rPr lang="en-US" sz="2800">
                <a:solidFill>
                  <a:srgbClr val="7886A6"/>
                </a:solidFill>
                <a:latin typeface="Canva Sans"/>
                <a:ea typeface="Canva Sans"/>
                <a:cs typeface="Canva Sans"/>
                <a:sym typeface="Canva Sans"/>
              </a:rPr>
              <a:t>The Solution (Target Network): DQN keeps a clone of the neural network frozen in the background.</a:t>
            </a:r>
          </a:p>
          <a:p>
            <a:pPr algn="l" marL="604521" indent="-302261" lvl="1">
              <a:lnSpc>
                <a:spcPts val="3920"/>
              </a:lnSpc>
              <a:buFont typeface="Arial"/>
              <a:buChar char="•"/>
            </a:pPr>
            <a:r>
              <a:rPr lang="en-US" sz="2800">
                <a:solidFill>
                  <a:srgbClr val="7886A6"/>
                </a:solidFill>
                <a:latin typeface="Canva Sans"/>
                <a:ea typeface="Canva Sans"/>
                <a:cs typeface="Canva Sans"/>
                <a:sym typeface="Canva Sans"/>
              </a:rPr>
              <a:t>P</a:t>
            </a:r>
            <a:r>
              <a:rPr lang="en-US" sz="2800">
                <a:solidFill>
                  <a:srgbClr val="7886A6"/>
                </a:solidFill>
                <a:latin typeface="Canva Sans"/>
                <a:ea typeface="Canva Sans"/>
                <a:cs typeface="Canva Sans"/>
                <a:sym typeface="Canva Sans"/>
              </a:rPr>
              <a:t>eriodic Syncing: The active network does the driving and learning, while the frozen "Target Network" is used only to calculate the goal values. Every few hundred steps, we copy the active brain over to update the target brain.</a:t>
            </a:r>
          </a:p>
          <a:p>
            <a:pPr algn="l">
              <a:lnSpc>
                <a:spcPts val="3920"/>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BEE"/>
        </a:solidFill>
      </p:bgPr>
    </p:bg>
    <p:spTree>
      <p:nvGrpSpPr>
        <p:cNvPr id="1" name=""/>
        <p:cNvGrpSpPr/>
        <p:nvPr/>
      </p:nvGrpSpPr>
      <p:grpSpPr>
        <a:xfrm>
          <a:off x="0" y="0"/>
          <a:ext cx="0" cy="0"/>
          <a:chOff x="0" y="0"/>
          <a:chExt cx="0" cy="0"/>
        </a:xfrm>
      </p:grpSpPr>
      <p:sp>
        <p:nvSpPr>
          <p:cNvPr name="Freeform 2" id="2"/>
          <p:cNvSpPr/>
          <p:nvPr/>
        </p:nvSpPr>
        <p:spPr>
          <a:xfrm flipH="false" flipV="false" rot="0">
            <a:off x="-3916905" y="4358609"/>
            <a:ext cx="5928391" cy="5928391"/>
          </a:xfrm>
          <a:custGeom>
            <a:avLst/>
            <a:gdLst/>
            <a:ahLst/>
            <a:cxnLst/>
            <a:rect r="r" b="b" t="t" l="l"/>
            <a:pathLst>
              <a:path h="5928391" w="5928391">
                <a:moveTo>
                  <a:pt x="0" y="0"/>
                </a:moveTo>
                <a:lnTo>
                  <a:pt x="5928391" y="0"/>
                </a:lnTo>
                <a:lnTo>
                  <a:pt x="5928391" y="5928391"/>
                </a:lnTo>
                <a:lnTo>
                  <a:pt x="0" y="59283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751199" y="-3799554"/>
            <a:ext cx="5928391" cy="5928391"/>
          </a:xfrm>
          <a:custGeom>
            <a:avLst/>
            <a:gdLst/>
            <a:ahLst/>
            <a:cxnLst/>
            <a:rect r="r" b="b" t="t" l="l"/>
            <a:pathLst>
              <a:path h="5928391" w="5928391">
                <a:moveTo>
                  <a:pt x="0" y="0"/>
                </a:moveTo>
                <a:lnTo>
                  <a:pt x="5928391" y="0"/>
                </a:lnTo>
                <a:lnTo>
                  <a:pt x="5928391" y="5928391"/>
                </a:lnTo>
                <a:lnTo>
                  <a:pt x="0" y="59283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0" y="1856374"/>
            <a:ext cx="18288000" cy="1666875"/>
          </a:xfrm>
          <a:prstGeom prst="rect">
            <a:avLst/>
          </a:prstGeom>
        </p:spPr>
        <p:txBody>
          <a:bodyPr anchor="t" rtlCol="false" tIns="0" lIns="0" bIns="0" rIns="0">
            <a:spAutoFit/>
          </a:bodyPr>
          <a:lstStyle/>
          <a:p>
            <a:pPr algn="ctr">
              <a:lnSpc>
                <a:spcPts val="12600"/>
              </a:lnSpc>
            </a:pPr>
            <a:r>
              <a:rPr lang="en-US" sz="12000">
                <a:solidFill>
                  <a:srgbClr val="6784C8"/>
                </a:solidFill>
                <a:latin typeface="Anton"/>
                <a:ea typeface="Anton"/>
                <a:cs typeface="Anton"/>
                <a:sym typeface="Anton"/>
              </a:rPr>
              <a:t>Exploration vs. Exploitation</a:t>
            </a:r>
          </a:p>
        </p:txBody>
      </p:sp>
      <p:sp>
        <p:nvSpPr>
          <p:cNvPr name="TextBox 5" id="5"/>
          <p:cNvSpPr txBox="true"/>
          <p:nvPr/>
        </p:nvSpPr>
        <p:spPr>
          <a:xfrm rot="0">
            <a:off x="3069442" y="4330315"/>
            <a:ext cx="12681757" cy="4939030"/>
          </a:xfrm>
          <a:prstGeom prst="rect">
            <a:avLst/>
          </a:prstGeom>
        </p:spPr>
        <p:txBody>
          <a:bodyPr anchor="t" rtlCol="false" tIns="0" lIns="0" bIns="0" rIns="0">
            <a:spAutoFit/>
          </a:bodyPr>
          <a:lstStyle/>
          <a:p>
            <a:pPr algn="l" marL="604521" indent="-302261" lvl="1">
              <a:lnSpc>
                <a:spcPts val="3920"/>
              </a:lnSpc>
              <a:buFont typeface="Arial"/>
              <a:buChar char="•"/>
            </a:pPr>
            <a:r>
              <a:rPr lang="en-US" sz="2800">
                <a:solidFill>
                  <a:srgbClr val="7886A6"/>
                </a:solidFill>
                <a:latin typeface="Canva Sans"/>
                <a:ea typeface="Canva Sans"/>
                <a:cs typeface="Canva Sans"/>
                <a:sym typeface="Canva Sans"/>
              </a:rPr>
              <a:t>Epsilon-Greedy Strategy: At the very start of training, the AI is 100% blind. If i</a:t>
            </a:r>
            <a:r>
              <a:rPr lang="en-US" sz="2800">
                <a:solidFill>
                  <a:srgbClr val="7886A6"/>
                </a:solidFill>
                <a:latin typeface="Canva Sans"/>
                <a:ea typeface="Canva Sans"/>
                <a:cs typeface="Canva Sans"/>
                <a:sym typeface="Canva Sans"/>
              </a:rPr>
              <a:t>t only does what it "thinks" is best, it might find one safe corner and stay there forever.</a:t>
            </a:r>
          </a:p>
          <a:p>
            <a:pPr algn="l" marL="604521" indent="-302261" lvl="1">
              <a:lnSpc>
                <a:spcPts val="3920"/>
              </a:lnSpc>
              <a:buFont typeface="Arial"/>
              <a:buChar char="•"/>
            </a:pPr>
            <a:r>
              <a:rPr lang="en-US" sz="2800">
                <a:solidFill>
                  <a:srgbClr val="7886A6"/>
                </a:solidFill>
                <a:latin typeface="Canva Sans"/>
                <a:ea typeface="Canva Sans"/>
                <a:cs typeface="Canva Sans"/>
                <a:sym typeface="Canva Sans"/>
              </a:rPr>
              <a:t>The Epsilon Decay: We use a variable called Epsilon.</a:t>
            </a:r>
          </a:p>
          <a:p>
            <a:pPr algn="l" marL="1209042" indent="-403014" lvl="2">
              <a:lnSpc>
                <a:spcPts val="3920"/>
              </a:lnSpc>
              <a:buFont typeface="Arial"/>
              <a:buChar char="⚬"/>
            </a:pPr>
            <a:r>
              <a:rPr lang="en-US" sz="2800">
                <a:solidFill>
                  <a:srgbClr val="7886A6"/>
                </a:solidFill>
                <a:latin typeface="Canva Sans"/>
                <a:ea typeface="Canva Sans"/>
                <a:cs typeface="Canva Sans"/>
                <a:sym typeface="Canva Sans"/>
              </a:rPr>
              <a:t>At the start, Epsilon is 1.0 (meaning the car takes a 100% random action to explore).</a:t>
            </a:r>
          </a:p>
          <a:p>
            <a:pPr algn="l" marL="1209042" indent="-403014" lvl="2">
              <a:lnSpc>
                <a:spcPts val="3920"/>
              </a:lnSpc>
              <a:buFont typeface="Arial"/>
              <a:buChar char="⚬"/>
            </a:pPr>
            <a:r>
              <a:rPr lang="en-US" sz="2800">
                <a:solidFill>
                  <a:srgbClr val="7886A6"/>
                </a:solidFill>
                <a:latin typeface="Canva Sans"/>
                <a:ea typeface="Canva Sans"/>
                <a:cs typeface="Canva Sans"/>
                <a:sym typeface="Canva Sans"/>
              </a:rPr>
              <a:t>Ov</a:t>
            </a:r>
            <a:r>
              <a:rPr lang="en-US" sz="2800">
                <a:solidFill>
                  <a:srgbClr val="7886A6"/>
                </a:solidFill>
                <a:latin typeface="Canva Sans"/>
                <a:ea typeface="Canva Sans"/>
                <a:cs typeface="Canva Sans"/>
                <a:sym typeface="Canva Sans"/>
              </a:rPr>
              <a:t>er time, we slowly decay Epsilon down to 0.05.</a:t>
            </a:r>
          </a:p>
          <a:p>
            <a:pPr algn="l" marL="1209042" indent="-403014" lvl="2">
              <a:lnSpc>
                <a:spcPts val="3920"/>
              </a:lnSpc>
              <a:buFont typeface="Arial"/>
              <a:buChar char="⚬"/>
            </a:pPr>
            <a:r>
              <a:rPr lang="en-US" sz="2800">
                <a:solidFill>
                  <a:srgbClr val="7886A6"/>
                </a:solidFill>
                <a:latin typeface="Canva Sans"/>
                <a:ea typeface="Canva Sans"/>
                <a:cs typeface="Canva Sans"/>
                <a:sym typeface="Canva Sans"/>
              </a:rPr>
              <a:t>By the end, the car is 95% exploiting its learned skills and only 5% blindly exploring.</a:t>
            </a:r>
          </a:p>
          <a:p>
            <a:pPr algn="l">
              <a:lnSpc>
                <a:spcPts val="3920"/>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BEE"/>
        </a:solidFill>
      </p:bgPr>
    </p:bg>
    <p:spTree>
      <p:nvGrpSpPr>
        <p:cNvPr id="1" name=""/>
        <p:cNvGrpSpPr/>
        <p:nvPr/>
      </p:nvGrpSpPr>
      <p:grpSpPr>
        <a:xfrm>
          <a:off x="0" y="0"/>
          <a:ext cx="0" cy="0"/>
          <a:chOff x="0" y="0"/>
          <a:chExt cx="0" cy="0"/>
        </a:xfrm>
      </p:grpSpPr>
      <p:sp>
        <p:nvSpPr>
          <p:cNvPr name="Freeform 2" id="2"/>
          <p:cNvSpPr/>
          <p:nvPr/>
        </p:nvSpPr>
        <p:spPr>
          <a:xfrm flipH="false" flipV="false" rot="0">
            <a:off x="-3916905" y="4358609"/>
            <a:ext cx="5928391" cy="5928391"/>
          </a:xfrm>
          <a:custGeom>
            <a:avLst/>
            <a:gdLst/>
            <a:ahLst/>
            <a:cxnLst/>
            <a:rect r="r" b="b" t="t" l="l"/>
            <a:pathLst>
              <a:path h="5928391" w="5928391">
                <a:moveTo>
                  <a:pt x="0" y="0"/>
                </a:moveTo>
                <a:lnTo>
                  <a:pt x="5928391" y="0"/>
                </a:lnTo>
                <a:lnTo>
                  <a:pt x="5928391" y="5928391"/>
                </a:lnTo>
                <a:lnTo>
                  <a:pt x="0" y="59283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751199" y="-3799554"/>
            <a:ext cx="5928391" cy="5928391"/>
          </a:xfrm>
          <a:custGeom>
            <a:avLst/>
            <a:gdLst/>
            <a:ahLst/>
            <a:cxnLst/>
            <a:rect r="r" b="b" t="t" l="l"/>
            <a:pathLst>
              <a:path h="5928391" w="5928391">
                <a:moveTo>
                  <a:pt x="0" y="0"/>
                </a:moveTo>
                <a:lnTo>
                  <a:pt x="5928391" y="0"/>
                </a:lnTo>
                <a:lnTo>
                  <a:pt x="5928391" y="5928391"/>
                </a:lnTo>
                <a:lnTo>
                  <a:pt x="0" y="59283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0" y="2414907"/>
            <a:ext cx="18288000" cy="952500"/>
          </a:xfrm>
          <a:prstGeom prst="rect">
            <a:avLst/>
          </a:prstGeom>
        </p:spPr>
        <p:txBody>
          <a:bodyPr anchor="t" rtlCol="false" tIns="0" lIns="0" bIns="0" rIns="0">
            <a:spAutoFit/>
          </a:bodyPr>
          <a:lstStyle/>
          <a:p>
            <a:pPr algn="ctr">
              <a:lnSpc>
                <a:spcPts val="7349"/>
              </a:lnSpc>
            </a:pPr>
            <a:r>
              <a:rPr lang="en-US" sz="6999">
                <a:solidFill>
                  <a:srgbClr val="6784C8"/>
                </a:solidFill>
                <a:latin typeface="Anton"/>
                <a:ea typeface="Anton"/>
                <a:cs typeface="Anton"/>
                <a:sym typeface="Anton"/>
              </a:rPr>
              <a:t>Verification Environment: Discrete Car Racing</a:t>
            </a:r>
          </a:p>
        </p:txBody>
      </p:sp>
      <p:sp>
        <p:nvSpPr>
          <p:cNvPr name="TextBox 5" id="5"/>
          <p:cNvSpPr txBox="true"/>
          <p:nvPr/>
        </p:nvSpPr>
        <p:spPr>
          <a:xfrm rot="0">
            <a:off x="3069442" y="4034759"/>
            <a:ext cx="12681757" cy="5929630"/>
          </a:xfrm>
          <a:prstGeom prst="rect">
            <a:avLst/>
          </a:prstGeom>
        </p:spPr>
        <p:txBody>
          <a:bodyPr anchor="t" rtlCol="false" tIns="0" lIns="0" bIns="0" rIns="0">
            <a:spAutoFit/>
          </a:bodyPr>
          <a:lstStyle/>
          <a:p>
            <a:pPr algn="l" marL="604521" indent="-302261" lvl="1">
              <a:lnSpc>
                <a:spcPts val="3920"/>
              </a:lnSpc>
              <a:buFont typeface="Arial"/>
              <a:buChar char="•"/>
            </a:pPr>
            <a:r>
              <a:rPr lang="en-US" sz="2800">
                <a:solidFill>
                  <a:srgbClr val="7886A6"/>
                </a:solidFill>
                <a:latin typeface="Canva Sans"/>
                <a:ea typeface="Canva Sans"/>
                <a:cs typeface="Canva Sans"/>
                <a:sym typeface="Canva Sans"/>
              </a:rPr>
              <a:t>The Game: We use Gymnasium's CarRacing-v2 but s</a:t>
            </a:r>
            <a:r>
              <a:rPr lang="en-US" sz="2800">
                <a:solidFill>
                  <a:srgbClr val="7886A6"/>
                </a:solidFill>
                <a:latin typeface="Canva Sans"/>
                <a:ea typeface="Canva Sans"/>
                <a:cs typeface="Canva Sans"/>
                <a:sym typeface="Canva Sans"/>
              </a:rPr>
              <a:t>et it to discrete action mode.</a:t>
            </a:r>
          </a:p>
          <a:p>
            <a:pPr algn="l" marL="604521" indent="-302261" lvl="1">
              <a:lnSpc>
                <a:spcPts val="3920"/>
              </a:lnSpc>
              <a:buFont typeface="Arial"/>
              <a:buChar char="•"/>
            </a:pPr>
            <a:r>
              <a:rPr lang="en-US" sz="2800">
                <a:solidFill>
                  <a:srgbClr val="7886A6"/>
                </a:solidFill>
                <a:latin typeface="Canva Sans"/>
                <a:ea typeface="Canva Sans"/>
                <a:cs typeface="Canva Sans"/>
                <a:sym typeface="Canva Sans"/>
              </a:rPr>
              <a:t>The Menu of Choices: Instead of continuous math, the car can make 5 simple choices:</a:t>
            </a:r>
          </a:p>
          <a:p>
            <a:pPr algn="l" marL="1209042" indent="-403014" lvl="2">
              <a:lnSpc>
                <a:spcPts val="3920"/>
              </a:lnSpc>
              <a:buFont typeface="Arial"/>
              <a:buChar char="⚬"/>
            </a:pPr>
            <a:r>
              <a:rPr lang="en-US" sz="2800">
                <a:solidFill>
                  <a:srgbClr val="7886A6"/>
                </a:solidFill>
                <a:latin typeface="Canva Sans"/>
                <a:ea typeface="Canva Sans"/>
                <a:cs typeface="Canva Sans"/>
                <a:sym typeface="Canva Sans"/>
              </a:rPr>
              <a:t>Do nothing (coast)</a:t>
            </a:r>
          </a:p>
          <a:p>
            <a:pPr algn="l" marL="1209042" indent="-403014" lvl="2">
              <a:lnSpc>
                <a:spcPts val="3920"/>
              </a:lnSpc>
              <a:buFont typeface="Arial"/>
              <a:buChar char="⚬"/>
            </a:pPr>
            <a:r>
              <a:rPr lang="en-US" sz="2800">
                <a:solidFill>
                  <a:srgbClr val="7886A6"/>
                </a:solidFill>
                <a:latin typeface="Canva Sans"/>
                <a:ea typeface="Canva Sans"/>
                <a:cs typeface="Canva Sans"/>
                <a:sym typeface="Canva Sans"/>
              </a:rPr>
              <a:t>Steer hard left</a:t>
            </a:r>
          </a:p>
          <a:p>
            <a:pPr algn="l" marL="1209042" indent="-403014" lvl="2">
              <a:lnSpc>
                <a:spcPts val="3920"/>
              </a:lnSpc>
              <a:buFont typeface="Arial"/>
              <a:buChar char="⚬"/>
            </a:pPr>
            <a:r>
              <a:rPr lang="en-US" sz="2800">
                <a:solidFill>
                  <a:srgbClr val="7886A6"/>
                </a:solidFill>
                <a:latin typeface="Canva Sans"/>
                <a:ea typeface="Canva Sans"/>
                <a:cs typeface="Canva Sans"/>
                <a:sym typeface="Canva Sans"/>
              </a:rPr>
              <a:t>Steer hard right</a:t>
            </a:r>
          </a:p>
          <a:p>
            <a:pPr algn="l" marL="1209042" indent="-403014" lvl="2">
              <a:lnSpc>
                <a:spcPts val="3920"/>
              </a:lnSpc>
              <a:buFont typeface="Arial"/>
              <a:buChar char="⚬"/>
            </a:pPr>
            <a:r>
              <a:rPr lang="en-US" sz="2800">
                <a:solidFill>
                  <a:srgbClr val="7886A6"/>
                </a:solidFill>
                <a:latin typeface="Canva Sans"/>
                <a:ea typeface="Canva Sans"/>
                <a:cs typeface="Canva Sans"/>
                <a:sym typeface="Canva Sans"/>
              </a:rPr>
              <a:t>Gas (accelerate)</a:t>
            </a:r>
          </a:p>
          <a:p>
            <a:pPr algn="l" marL="1209042" indent="-403014" lvl="2">
              <a:lnSpc>
                <a:spcPts val="3920"/>
              </a:lnSpc>
              <a:buFont typeface="Arial"/>
              <a:buChar char="⚬"/>
            </a:pPr>
            <a:r>
              <a:rPr lang="en-US" sz="2800">
                <a:solidFill>
                  <a:srgbClr val="7886A6"/>
                </a:solidFill>
                <a:latin typeface="Canva Sans"/>
                <a:ea typeface="Canva Sans"/>
                <a:cs typeface="Canva Sans"/>
                <a:sym typeface="Canva Sans"/>
              </a:rPr>
              <a:t>Brake (decelerate)</a:t>
            </a:r>
          </a:p>
          <a:p>
            <a:pPr algn="l" marL="604521" indent="-302261" lvl="1">
              <a:lnSpc>
                <a:spcPts val="3920"/>
              </a:lnSpc>
              <a:buFont typeface="Arial"/>
              <a:buChar char="•"/>
            </a:pPr>
            <a:r>
              <a:rPr lang="en-US" sz="2800">
                <a:solidFill>
                  <a:srgbClr val="7886A6"/>
                </a:solidFill>
                <a:latin typeface="Canva Sans"/>
                <a:ea typeface="Canva Sans"/>
                <a:cs typeface="Canva Sans"/>
                <a:sym typeface="Canva Sans"/>
              </a:rPr>
              <a:t>Th</a:t>
            </a:r>
            <a:r>
              <a:rPr lang="en-US" sz="2800">
                <a:solidFill>
                  <a:srgbClr val="7886A6"/>
                </a:solidFill>
                <a:latin typeface="Canva Sans"/>
                <a:ea typeface="Canva Sans"/>
                <a:cs typeface="Canva Sans"/>
                <a:sym typeface="Canva Sans"/>
              </a:rPr>
              <a:t>e Setup: The visual CNN takes the same 96 by 96 image and predicts a Q-value for each of these 5 choices.</a:t>
            </a:r>
          </a:p>
          <a:p>
            <a:pPr algn="l">
              <a:lnSpc>
                <a:spcPts val="3920"/>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BEE"/>
        </a:solidFill>
      </p:bgPr>
    </p:bg>
    <p:spTree>
      <p:nvGrpSpPr>
        <p:cNvPr id="1" name=""/>
        <p:cNvGrpSpPr/>
        <p:nvPr/>
      </p:nvGrpSpPr>
      <p:grpSpPr>
        <a:xfrm>
          <a:off x="0" y="0"/>
          <a:ext cx="0" cy="0"/>
          <a:chOff x="0" y="0"/>
          <a:chExt cx="0" cy="0"/>
        </a:xfrm>
      </p:grpSpPr>
      <p:sp>
        <p:nvSpPr>
          <p:cNvPr name="Freeform 2" id="2"/>
          <p:cNvSpPr/>
          <p:nvPr/>
        </p:nvSpPr>
        <p:spPr>
          <a:xfrm flipH="false" flipV="false" rot="0">
            <a:off x="-3916905" y="4358609"/>
            <a:ext cx="5928391" cy="5928391"/>
          </a:xfrm>
          <a:custGeom>
            <a:avLst/>
            <a:gdLst/>
            <a:ahLst/>
            <a:cxnLst/>
            <a:rect r="r" b="b" t="t" l="l"/>
            <a:pathLst>
              <a:path h="5928391" w="5928391">
                <a:moveTo>
                  <a:pt x="0" y="0"/>
                </a:moveTo>
                <a:lnTo>
                  <a:pt x="5928391" y="0"/>
                </a:lnTo>
                <a:lnTo>
                  <a:pt x="5928391" y="5928391"/>
                </a:lnTo>
                <a:lnTo>
                  <a:pt x="0" y="59283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751199" y="-3799554"/>
            <a:ext cx="5928391" cy="5928391"/>
          </a:xfrm>
          <a:custGeom>
            <a:avLst/>
            <a:gdLst/>
            <a:ahLst/>
            <a:cxnLst/>
            <a:rect r="r" b="b" t="t" l="l"/>
            <a:pathLst>
              <a:path h="5928391" w="5928391">
                <a:moveTo>
                  <a:pt x="0" y="0"/>
                </a:moveTo>
                <a:lnTo>
                  <a:pt x="5928391" y="0"/>
                </a:lnTo>
                <a:lnTo>
                  <a:pt x="5928391" y="5928391"/>
                </a:lnTo>
                <a:lnTo>
                  <a:pt x="0" y="59283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284079" y="2879506"/>
            <a:ext cx="11719842" cy="6697053"/>
          </a:xfrm>
          <a:custGeom>
            <a:avLst/>
            <a:gdLst/>
            <a:ahLst/>
            <a:cxnLst/>
            <a:rect r="r" b="b" t="t" l="l"/>
            <a:pathLst>
              <a:path h="6697053" w="11719842">
                <a:moveTo>
                  <a:pt x="0" y="0"/>
                </a:moveTo>
                <a:lnTo>
                  <a:pt x="11719842" y="0"/>
                </a:lnTo>
                <a:lnTo>
                  <a:pt x="11719842" y="6697053"/>
                </a:lnTo>
                <a:lnTo>
                  <a:pt x="0" y="6697053"/>
                </a:lnTo>
                <a:lnTo>
                  <a:pt x="0" y="0"/>
                </a:lnTo>
                <a:close/>
              </a:path>
            </a:pathLst>
          </a:custGeom>
          <a:blipFill>
            <a:blip r:embed="rId4"/>
            <a:stretch>
              <a:fillRect l="0" t="0" r="0" b="0"/>
            </a:stretch>
          </a:blipFill>
        </p:spPr>
      </p:sp>
      <p:sp>
        <p:nvSpPr>
          <p:cNvPr name="TextBox 5" id="5"/>
          <p:cNvSpPr txBox="true"/>
          <p:nvPr/>
        </p:nvSpPr>
        <p:spPr>
          <a:xfrm rot="0">
            <a:off x="3239302" y="457200"/>
            <a:ext cx="11809397" cy="2000250"/>
          </a:xfrm>
          <a:prstGeom prst="rect">
            <a:avLst/>
          </a:prstGeom>
        </p:spPr>
        <p:txBody>
          <a:bodyPr anchor="t" rtlCol="false" tIns="0" lIns="0" bIns="0" rIns="0">
            <a:spAutoFit/>
          </a:bodyPr>
          <a:lstStyle/>
          <a:p>
            <a:pPr algn="ctr">
              <a:lnSpc>
                <a:spcPts val="15224"/>
              </a:lnSpc>
            </a:pPr>
            <a:r>
              <a:rPr lang="en-US" sz="14499">
                <a:solidFill>
                  <a:srgbClr val="6784C8"/>
                </a:solidFill>
                <a:latin typeface="Anton"/>
                <a:ea typeface="Anton"/>
                <a:cs typeface="Anton"/>
                <a:sym typeface="Anton"/>
              </a:rPr>
              <a:t>Result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BEE"/>
        </a:solidFill>
      </p:bgPr>
    </p:bg>
    <p:spTree>
      <p:nvGrpSpPr>
        <p:cNvPr id="1" name=""/>
        <p:cNvGrpSpPr/>
        <p:nvPr/>
      </p:nvGrpSpPr>
      <p:grpSpPr>
        <a:xfrm>
          <a:off x="0" y="0"/>
          <a:ext cx="0" cy="0"/>
          <a:chOff x="0" y="0"/>
          <a:chExt cx="0" cy="0"/>
        </a:xfrm>
      </p:grpSpPr>
      <p:sp>
        <p:nvSpPr>
          <p:cNvPr name="Freeform 2" id="2"/>
          <p:cNvSpPr/>
          <p:nvPr/>
        </p:nvSpPr>
        <p:spPr>
          <a:xfrm flipH="false" flipV="false" rot="0">
            <a:off x="-3916905" y="4358609"/>
            <a:ext cx="5928391" cy="5928391"/>
          </a:xfrm>
          <a:custGeom>
            <a:avLst/>
            <a:gdLst/>
            <a:ahLst/>
            <a:cxnLst/>
            <a:rect r="r" b="b" t="t" l="l"/>
            <a:pathLst>
              <a:path h="5928391" w="5928391">
                <a:moveTo>
                  <a:pt x="0" y="0"/>
                </a:moveTo>
                <a:lnTo>
                  <a:pt x="5928391" y="0"/>
                </a:lnTo>
                <a:lnTo>
                  <a:pt x="5928391" y="5928391"/>
                </a:lnTo>
                <a:lnTo>
                  <a:pt x="0" y="59283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751199" y="-3799554"/>
            <a:ext cx="5928391" cy="5928391"/>
          </a:xfrm>
          <a:custGeom>
            <a:avLst/>
            <a:gdLst/>
            <a:ahLst/>
            <a:cxnLst/>
            <a:rect r="r" b="b" t="t" l="l"/>
            <a:pathLst>
              <a:path h="5928391" w="5928391">
                <a:moveTo>
                  <a:pt x="0" y="0"/>
                </a:moveTo>
                <a:lnTo>
                  <a:pt x="5928391" y="0"/>
                </a:lnTo>
                <a:lnTo>
                  <a:pt x="5928391" y="5928391"/>
                </a:lnTo>
                <a:lnTo>
                  <a:pt x="0" y="59283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700578" y="482853"/>
            <a:ext cx="12886844" cy="2000250"/>
          </a:xfrm>
          <a:prstGeom prst="rect">
            <a:avLst/>
          </a:prstGeom>
        </p:spPr>
        <p:txBody>
          <a:bodyPr anchor="t" rtlCol="false" tIns="0" lIns="0" bIns="0" rIns="0">
            <a:spAutoFit/>
          </a:bodyPr>
          <a:lstStyle/>
          <a:p>
            <a:pPr algn="ctr">
              <a:lnSpc>
                <a:spcPts val="15224"/>
              </a:lnSpc>
            </a:pPr>
            <a:r>
              <a:rPr lang="en-US" sz="14499">
                <a:solidFill>
                  <a:srgbClr val="6784C8"/>
                </a:solidFill>
                <a:latin typeface="Anton"/>
                <a:ea typeface="Anton"/>
                <a:cs typeface="Anton"/>
                <a:sym typeface="Anton"/>
              </a:rPr>
              <a:t>Results Analysis</a:t>
            </a:r>
          </a:p>
        </p:txBody>
      </p:sp>
      <p:sp>
        <p:nvSpPr>
          <p:cNvPr name="TextBox 5" id="5"/>
          <p:cNvSpPr txBox="true"/>
          <p:nvPr/>
        </p:nvSpPr>
        <p:spPr>
          <a:xfrm rot="0">
            <a:off x="3069442" y="3328670"/>
            <a:ext cx="12681757" cy="4939030"/>
          </a:xfrm>
          <a:prstGeom prst="rect">
            <a:avLst/>
          </a:prstGeom>
        </p:spPr>
        <p:txBody>
          <a:bodyPr anchor="t" rtlCol="false" tIns="0" lIns="0" bIns="0" rIns="0">
            <a:spAutoFit/>
          </a:bodyPr>
          <a:lstStyle/>
          <a:p>
            <a:pPr algn="l" marL="604521" indent="-302261" lvl="1">
              <a:lnSpc>
                <a:spcPts val="3920"/>
              </a:lnSpc>
              <a:buFont typeface="Arial"/>
              <a:buChar char="•"/>
            </a:pPr>
            <a:r>
              <a:rPr lang="en-US" sz="2800">
                <a:solidFill>
                  <a:srgbClr val="7886A6"/>
                </a:solidFill>
                <a:latin typeface="Canva Sans"/>
                <a:ea typeface="Canva Sans"/>
                <a:cs typeface="Canva Sans"/>
                <a:sym typeface="Canva Sans"/>
              </a:rPr>
              <a:t>Early Exploration Drops: Starts at -55.0 but dips </a:t>
            </a:r>
            <a:r>
              <a:rPr lang="en-US" sz="2800">
                <a:solidFill>
                  <a:srgbClr val="7886A6"/>
                </a:solidFill>
                <a:latin typeface="Canva Sans"/>
                <a:ea typeface="Canva Sans"/>
                <a:cs typeface="Canva Sans"/>
                <a:sym typeface="Canva Sans"/>
              </a:rPr>
              <a:t>to -62.5 early on as the agent makes random choices to map out the track.</a:t>
            </a:r>
          </a:p>
          <a:p>
            <a:pPr algn="l" marL="604521" indent="-302261" lvl="1">
              <a:lnSpc>
                <a:spcPts val="3920"/>
              </a:lnSpc>
              <a:buFont typeface="Arial"/>
              <a:buChar char="•"/>
            </a:pPr>
            <a:r>
              <a:rPr lang="en-US" sz="2800">
                <a:solidFill>
                  <a:srgbClr val="7886A6"/>
                </a:solidFill>
                <a:latin typeface="Canva Sans"/>
                <a:ea typeface="Canva Sans"/>
                <a:cs typeface="Canva Sans"/>
                <a:sym typeface="Canva Sans"/>
              </a:rPr>
              <a:t>Temporary Breakthroughs: Spikes up to -60.5 at Episode 3 and -62.5 at Episode 7 show the CNN starting to connect correct visual inputs with positive rewards.</a:t>
            </a:r>
          </a:p>
          <a:p>
            <a:pPr algn="l" marL="604521" indent="-302261" lvl="1">
              <a:lnSpc>
                <a:spcPts val="3920"/>
              </a:lnSpc>
              <a:buFont typeface="Arial"/>
              <a:buChar char="•"/>
            </a:pPr>
            <a:r>
              <a:rPr lang="en-US" sz="2800">
                <a:solidFill>
                  <a:srgbClr val="7886A6"/>
                </a:solidFill>
                <a:latin typeface="Canva Sans"/>
                <a:ea typeface="Canva Sans"/>
                <a:cs typeface="Canva Sans"/>
                <a:sym typeface="Canva Sans"/>
              </a:rPr>
              <a:t>Exploration Dips: Sharp drops down to -71.0 (Episodes 5 and 8) show the car spinning out as it continues to randomly explore.</a:t>
            </a:r>
          </a:p>
          <a:p>
            <a:pPr algn="l" marL="604521" indent="-302261" lvl="1">
              <a:lnSpc>
                <a:spcPts val="3920"/>
              </a:lnSpc>
              <a:buFont typeface="Arial"/>
              <a:buChar char="•"/>
            </a:pPr>
            <a:r>
              <a:rPr lang="en-US" sz="2800">
                <a:solidFill>
                  <a:srgbClr val="7886A6"/>
                </a:solidFill>
                <a:latin typeface="Canva Sans"/>
                <a:ea typeface="Canva Sans"/>
                <a:cs typeface="Canva Sans"/>
                <a:sym typeface="Canva Sans"/>
              </a:rPr>
              <a:t>N</a:t>
            </a:r>
            <a:r>
              <a:rPr lang="en-US" sz="2800">
                <a:solidFill>
                  <a:srgbClr val="7886A6"/>
                </a:solidFill>
                <a:latin typeface="Canva Sans"/>
                <a:ea typeface="Canva Sans"/>
                <a:cs typeface="Canva Sans"/>
                <a:sym typeface="Canva Sans"/>
              </a:rPr>
              <a:t>ext Steps: Needs a longer training run (100,000+ steps) to fully decay epsilon and let the target network stabilize.</a:t>
            </a:r>
          </a:p>
          <a:p>
            <a:pPr algn="l">
              <a:lnSpc>
                <a:spcPts val="3920"/>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BEE"/>
        </a:solidFill>
      </p:bgPr>
    </p:bg>
    <p:spTree>
      <p:nvGrpSpPr>
        <p:cNvPr id="1" name=""/>
        <p:cNvGrpSpPr/>
        <p:nvPr/>
      </p:nvGrpSpPr>
      <p:grpSpPr>
        <a:xfrm>
          <a:off x="0" y="0"/>
          <a:ext cx="0" cy="0"/>
          <a:chOff x="0" y="0"/>
          <a:chExt cx="0" cy="0"/>
        </a:xfrm>
      </p:grpSpPr>
      <p:sp>
        <p:nvSpPr>
          <p:cNvPr name="Freeform 2" id="2"/>
          <p:cNvSpPr/>
          <p:nvPr/>
        </p:nvSpPr>
        <p:spPr>
          <a:xfrm flipH="false" flipV="false" rot="0">
            <a:off x="15751199" y="6686550"/>
            <a:ext cx="5014445" cy="7200900"/>
          </a:xfrm>
          <a:custGeom>
            <a:avLst/>
            <a:gdLst/>
            <a:ahLst/>
            <a:cxnLst/>
            <a:rect r="r" b="b" t="t" l="l"/>
            <a:pathLst>
              <a:path h="7200900" w="5014445">
                <a:moveTo>
                  <a:pt x="0" y="0"/>
                </a:moveTo>
                <a:lnTo>
                  <a:pt x="5014445" y="0"/>
                </a:lnTo>
                <a:lnTo>
                  <a:pt x="5014445"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722443" y="-4224344"/>
            <a:ext cx="5014445" cy="7200900"/>
          </a:xfrm>
          <a:custGeom>
            <a:avLst/>
            <a:gdLst/>
            <a:ahLst/>
            <a:cxnLst/>
            <a:rect r="r" b="b" t="t" l="l"/>
            <a:pathLst>
              <a:path h="7200900" w="5014445">
                <a:moveTo>
                  <a:pt x="0" y="0"/>
                </a:moveTo>
                <a:lnTo>
                  <a:pt x="5014445" y="0"/>
                </a:lnTo>
                <a:lnTo>
                  <a:pt x="5014445" y="7200900"/>
                </a:lnTo>
                <a:lnTo>
                  <a:pt x="0" y="7200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922109" y="2904415"/>
            <a:ext cx="8443781" cy="5438775"/>
          </a:xfrm>
          <a:prstGeom prst="rect">
            <a:avLst/>
          </a:prstGeom>
        </p:spPr>
        <p:txBody>
          <a:bodyPr anchor="t" rtlCol="false" tIns="0" lIns="0" bIns="0" rIns="0">
            <a:spAutoFit/>
          </a:bodyPr>
          <a:lstStyle/>
          <a:p>
            <a:pPr algn="ctr">
              <a:lnSpc>
                <a:spcPts val="21000"/>
              </a:lnSpc>
            </a:pPr>
            <a:r>
              <a:rPr lang="en-US" sz="20000">
                <a:solidFill>
                  <a:srgbClr val="6784C8"/>
                </a:solidFill>
                <a:latin typeface="Anton"/>
                <a:ea typeface="Anton"/>
                <a:cs typeface="Anton"/>
                <a:sym typeface="Anton"/>
              </a:rPr>
              <a:t>Thank You</a:t>
            </a:r>
          </a:p>
        </p:txBody>
      </p:sp>
      <p:sp>
        <p:nvSpPr>
          <p:cNvPr name="Freeform 5" id="5"/>
          <p:cNvSpPr/>
          <p:nvPr/>
        </p:nvSpPr>
        <p:spPr>
          <a:xfrm flipH="false" flipV="false" rot="0">
            <a:off x="-2498360" y="6031038"/>
            <a:ext cx="7054120" cy="7054120"/>
          </a:xfrm>
          <a:custGeom>
            <a:avLst/>
            <a:gdLst/>
            <a:ahLst/>
            <a:cxnLst/>
            <a:rect r="r" b="b" t="t" l="l"/>
            <a:pathLst>
              <a:path h="7054120" w="7054120">
                <a:moveTo>
                  <a:pt x="0" y="0"/>
                </a:moveTo>
                <a:lnTo>
                  <a:pt x="7054120" y="0"/>
                </a:lnTo>
                <a:lnTo>
                  <a:pt x="7054120" y="7054119"/>
                </a:lnTo>
                <a:lnTo>
                  <a:pt x="0" y="70541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3507882" y="-2498360"/>
            <a:ext cx="7054120" cy="7054120"/>
          </a:xfrm>
          <a:custGeom>
            <a:avLst/>
            <a:gdLst/>
            <a:ahLst/>
            <a:cxnLst/>
            <a:rect r="r" b="b" t="t" l="l"/>
            <a:pathLst>
              <a:path h="7054120" w="7054120">
                <a:moveTo>
                  <a:pt x="0" y="0"/>
                </a:moveTo>
                <a:lnTo>
                  <a:pt x="7054120" y="0"/>
                </a:lnTo>
                <a:lnTo>
                  <a:pt x="7054120" y="7054120"/>
                </a:lnTo>
                <a:lnTo>
                  <a:pt x="0" y="70541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DAHPY1GB9JU</dc:identifier>
  <dcterms:modified xsi:type="dcterms:W3CDTF">2011-08-01T06:04:30Z</dcterms:modified>
  <cp:revision>1</cp:revision>
  <dc:title>Deep Q-Networks (DQN)</dc:title>
</cp:coreProperties>
</file>